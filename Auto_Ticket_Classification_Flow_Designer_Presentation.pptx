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78240" y="0"/>
            <a:ext cx="3410712" cy="1097280"/>
          </a:xfrm>
          <a:prstGeom prst="rect">
            <a:avLst/>
          </a:prstGeom>
          <a:solidFill>
            <a:srgbClr val="2B6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92640" y="1097280"/>
            <a:ext cx="2496312" cy="914400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5303520"/>
            <a:ext cx="3776472" cy="1554480"/>
          </a:xfrm>
          <a:prstGeom prst="rect">
            <a:avLst/>
          </a:prstGeom>
          <a:solidFill>
            <a:srgbClr val="1E44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7FDCD5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AUTO TICKET</a:t>
            </a:r>
          </a:p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520440"/>
            <a:ext cx="6766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CDDDF2"/>
                </a:solidFill>
                <a:latin typeface="Aptos"/>
              </a:defRPr>
            </a:pPr>
            <a:r>
              <a:t>Using ServiceNow Flow Designer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800600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Presented by: [Student Name]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Department / Institution: [Enter details]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Academic Year: [Enter year]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D52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143000" cy="54864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708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1500"/>
              </a:spcAft>
              <a:defRPr sz="2200">
                <a:solidFill>
                  <a:srgbClr val="26303E"/>
                </a:solidFill>
                <a:latin typeface="Aptos"/>
              </a:defRPr>
            </a:pPr>
            <a:r>
              <a:t>Automates classification of school IT helpdesk tickets.</a:t>
            </a:r>
          </a:p>
          <a:p>
            <a:pPr>
              <a:buChar char="•"/>
              <a:spcAft>
                <a:spcPts val="1500"/>
              </a:spcAft>
              <a:defRPr sz="2200">
                <a:solidFill>
                  <a:srgbClr val="26303E"/>
                </a:solidFill>
                <a:latin typeface="Aptos"/>
              </a:defRPr>
            </a:pPr>
            <a:r>
              <a:t>Uses keywords in the Short Description field.</a:t>
            </a:r>
          </a:p>
          <a:p>
            <a:pPr>
              <a:buChar char="•"/>
              <a:spcAft>
                <a:spcPts val="1500"/>
              </a:spcAft>
              <a:defRPr sz="2200">
                <a:solidFill>
                  <a:srgbClr val="26303E"/>
                </a:solidFill>
                <a:latin typeface="Aptos"/>
              </a:defRPr>
            </a:pPr>
            <a:r>
              <a:t>Sets Category and Subcategory automatically.</a:t>
            </a:r>
          </a:p>
          <a:p>
            <a:pPr>
              <a:buChar char="•"/>
              <a:spcAft>
                <a:spcPts val="1500"/>
              </a:spcAft>
              <a:defRPr sz="2200">
                <a:solidFill>
                  <a:srgbClr val="26303E"/>
                </a:solidFill>
                <a:latin typeface="Aptos"/>
              </a:defRPr>
            </a:pPr>
            <a:r>
              <a:t>Sends an email confirmation to the caller.</a:t>
            </a:r>
          </a:p>
          <a:p>
            <a:pPr>
              <a:buChar char="•"/>
              <a:spcAft>
                <a:spcPts val="1500"/>
              </a:spcAft>
              <a:defRPr sz="2200">
                <a:solidFill>
                  <a:srgbClr val="26303E"/>
                </a:solidFill>
                <a:latin typeface="Aptos"/>
              </a:defRPr>
            </a:pPr>
            <a:r>
              <a:t>Uses a visual, no-code Flow Designer workflow.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D52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143000" cy="54864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708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347472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81912"/>
            <a:ext cx="48828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B65B8"/>
                </a:solidFill>
                <a:latin typeface="Aptos"/>
              </a:defRPr>
            </a:pPr>
            <a:r>
              <a:t>Current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75688"/>
            <a:ext cx="4882896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03E"/>
                </a:solidFill>
                <a:latin typeface="Aptos"/>
              </a:defRPr>
            </a:pPr>
            <a:r>
              <a:t>IT staff manually review each request, identify the issue, choose category/subcategory, and communicate ticket creation.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212080" cy="347472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1" y="1581912"/>
            <a:ext cx="48828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89691"/>
                </a:solidFill>
                <a:latin typeface="Aptos"/>
              </a:defRPr>
            </a:pPr>
            <a:r>
              <a:t>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1" y="2075688"/>
            <a:ext cx="4882896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03E"/>
                </a:solidFill>
                <a:latin typeface="Aptos"/>
              </a:defRPr>
            </a:pPr>
            <a:r>
              <a:t>Repetitive effort, possible inconsistent categorization, and delays as the number of requests increases.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4924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100" b="1">
                <a:solidFill>
                  <a:srgbClr val="162D52"/>
                </a:solidFill>
                <a:latin typeface="Aptos"/>
              </a:defRPr>
            </a:pPr>
            <a:r>
              <a:t>Project response: automate routine classification and acknowledgement.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D52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143000" cy="54864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708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1500"/>
              </a:spcAft>
              <a:defRPr sz="2100">
                <a:solidFill>
                  <a:srgbClr val="26303E"/>
                </a:solidFill>
                <a:latin typeface="Aptos"/>
              </a:defRPr>
            </a:pPr>
            <a:r>
              <a:t>Automatically classify new IT tickets.</a:t>
            </a:r>
          </a:p>
          <a:p>
            <a:pPr>
              <a:buChar char="•"/>
              <a:spcAft>
                <a:spcPts val="1500"/>
              </a:spcAft>
              <a:defRPr sz="2100">
                <a:solidFill>
                  <a:srgbClr val="26303E"/>
                </a:solidFill>
                <a:latin typeface="Aptos"/>
              </a:defRPr>
            </a:pPr>
            <a:r>
              <a:t>Assign Category and Subcategory using configured keywords.</a:t>
            </a:r>
          </a:p>
          <a:p>
            <a:pPr>
              <a:buChar char="•"/>
              <a:spcAft>
                <a:spcPts val="1500"/>
              </a:spcAft>
              <a:defRPr sz="2100">
                <a:solidFill>
                  <a:srgbClr val="26303E"/>
                </a:solidFill>
                <a:latin typeface="Aptos"/>
              </a:defRPr>
            </a:pPr>
            <a:r>
              <a:t>Maintain dependent choices between Category and Subcategory.</a:t>
            </a:r>
          </a:p>
          <a:p>
            <a:pPr>
              <a:buChar char="•"/>
              <a:spcAft>
                <a:spcPts val="1500"/>
              </a:spcAft>
              <a:defRPr sz="2100">
                <a:solidFill>
                  <a:srgbClr val="26303E"/>
                </a:solidFill>
                <a:latin typeface="Aptos"/>
              </a:defRPr>
            </a:pPr>
            <a:r>
              <a:t>Send an email notification to the caller.</a:t>
            </a:r>
          </a:p>
          <a:p>
            <a:pPr>
              <a:buChar char="•"/>
              <a:spcAft>
                <a:spcPts val="1500"/>
              </a:spcAft>
              <a:defRPr sz="2100">
                <a:solidFill>
                  <a:srgbClr val="26303E"/>
                </a:solidFill>
                <a:latin typeface="Aptos"/>
              </a:defRPr>
            </a:pPr>
            <a:r>
              <a:t>Store ticket data in a structured format and support future maintenance.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D52"/>
                </a:solidFill>
                <a:latin typeface="Aptos"/>
              </a:defRPr>
            </a:pPr>
            <a:r>
              <a:t>Workflow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143000" cy="54864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708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965960"/>
            <a:ext cx="2148840" cy="233172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2130552"/>
            <a:ext cx="1819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B65B8"/>
                </a:solidFill>
                <a:latin typeface="Aptos"/>
              </a:defRPr>
            </a:pPr>
            <a:r>
              <a:t>Record Created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2624328"/>
            <a:ext cx="1819656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03E"/>
                </a:solidFill>
                <a:latin typeface="Aptos"/>
              </a:defRPr>
            </a:pPr>
            <a:r>
              <a:t>Incident Workflow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4173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189691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8803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6470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70632" y="1965960"/>
            <a:ext cx="2148840" cy="233172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35224" y="2130552"/>
            <a:ext cx="1819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89691"/>
                </a:solidFill>
                <a:latin typeface="Aptos"/>
              </a:defRPr>
            </a:pPr>
            <a:r>
              <a:t>Check Trigger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35224" y="2624328"/>
            <a:ext cx="1819656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03E"/>
                </a:solidFill>
                <a:latin typeface="Aptos"/>
              </a:defRPr>
            </a:pPr>
            <a:r>
              <a:t>Category is empty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14173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189691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3752" y="28803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6470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9784" y="1965960"/>
            <a:ext cx="2148840" cy="233172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94376" y="2130552"/>
            <a:ext cx="1819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B65B8"/>
                </a:solidFill>
                <a:latin typeface="Aptos"/>
              </a:defRPr>
            </a:pPr>
            <a:r>
              <a:t>Evaluate Short Description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94376" y="2624328"/>
            <a:ext cx="1819656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03E"/>
                </a:solidFill>
                <a:latin typeface="Aptos"/>
              </a:defRPr>
            </a:pPr>
            <a:r>
              <a:t>If / Else If keyword branches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7024" y="14173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189691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2904" y="28803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6470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88936" y="1965960"/>
            <a:ext cx="2148840" cy="233172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53527" y="2130552"/>
            <a:ext cx="1819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B65B8"/>
                </a:solidFill>
                <a:latin typeface="Aptos"/>
              </a:defRPr>
            </a:pPr>
            <a:r>
              <a:t>Update Record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53527" y="2624328"/>
            <a:ext cx="1819656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03E"/>
                </a:solidFill>
                <a:latin typeface="Aptos"/>
              </a:defRPr>
            </a:pPr>
            <a:r>
              <a:t>Set Category + Subcategory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6175" y="14173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189691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92055" y="28803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6470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48088" y="1965960"/>
            <a:ext cx="2148840" cy="233172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2130552"/>
            <a:ext cx="1819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89691"/>
                </a:solidFill>
                <a:latin typeface="Aptos"/>
              </a:defRPr>
            </a:pPr>
            <a:r>
              <a:t>Send Email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2624328"/>
            <a:ext cx="1819656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03E"/>
                </a:solidFill>
                <a:latin typeface="Aptos"/>
              </a:defRPr>
            </a:pPr>
            <a:r>
              <a:t>Notify caller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25328" y="14173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189691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9834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162D52"/>
                </a:solidFill>
                <a:latin typeface="Aptos"/>
              </a:defRPr>
            </a:pPr>
            <a:r>
              <a:t>Flow name: Auto Classify School IT Tickets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D52"/>
                </a:solidFill>
                <a:latin typeface="Aptos"/>
              </a:defRPr>
            </a:pPr>
            <a:r>
              <a:t>Ticket Table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143000" cy="54864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7080"/>
                </a:solidFill>
                <a:latin typeface="Aptos"/>
              </a:defRPr>
            </a:pPr>
            <a:r>
              <a:t>06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34440"/>
          <a:ext cx="106984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772400"/>
              </a:tblGrid>
              <a:tr h="50292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Field</a:t>
                      </a:r>
                    </a:p>
                  </a:txBody>
                  <a:tcPr marL="109728" marR="73152">
                    <a:solidFill>
                      <a:srgbClr val="162D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Type / Configuration</a:t>
                      </a:r>
                    </a:p>
                  </a:txBody>
                  <a:tcPr marL="109728" marR="73152">
                    <a:solidFill>
                      <a:srgbClr val="162D5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Number</a:t>
                      </a:r>
                    </a:p>
                  </a:txBody>
                  <a:tcPr marL="109728" marR="73152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Auto Number</a:t>
                      </a:r>
                    </a:p>
                  </a:txBody>
                  <a:tcPr marL="109728" marR="73152">
                    <a:solidFill>
                      <a:srgbClr val="EFF5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Caller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Reference: sys_user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Category</a:t>
                      </a:r>
                    </a:p>
                  </a:txBody>
                  <a:tcPr marL="109728" marR="73152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Choice</a:t>
                      </a:r>
                    </a:p>
                  </a:txBody>
                  <a:tcPr marL="109728" marR="73152">
                    <a:solidFill>
                      <a:srgbClr val="EFF5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Subcategory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Choice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Short Description</a:t>
                      </a:r>
                    </a:p>
                  </a:txBody>
                  <a:tcPr marL="109728" marR="73152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String</a:t>
                      </a:r>
                    </a:p>
                  </a:txBody>
                  <a:tcPr marL="109728" marR="73152">
                    <a:solidFill>
                      <a:srgbClr val="EFF5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Description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String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State</a:t>
                      </a:r>
                    </a:p>
                  </a:txBody>
                  <a:tcPr marL="109728" marR="73152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Choice</a:t>
                      </a:r>
                    </a:p>
                  </a:txBody>
                  <a:tcPr marL="109728" marR="73152">
                    <a:solidFill>
                      <a:srgbClr val="EFF5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Assigned Group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Reference: sys_user_group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Assigned to</a:t>
                      </a:r>
                    </a:p>
                  </a:txBody>
                  <a:tcPr marL="109728" marR="73152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Reference: sys_user</a:t>
                      </a:r>
                    </a:p>
                  </a:txBody>
                  <a:tcPr marL="109728" marR="73152">
                    <a:solidFill>
                      <a:srgbClr val="EFF5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D52"/>
                </a:solidFill>
                <a:latin typeface="Aptos"/>
              </a:defRPr>
            </a:pPr>
            <a:r>
              <a:t>Flow Conditions and Classification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143000" cy="54864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7080"/>
                </a:solidFill>
                <a:latin typeface="Aptos"/>
              </a:defRPr>
            </a:pPr>
            <a:r>
              <a:t>07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111556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754880"/>
                <a:gridCol w="2377440"/>
                <a:gridCol w="2651760"/>
              </a:tblGrid>
              <a:tr h="89611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Branch</a:t>
                      </a:r>
                    </a:p>
                  </a:txBody>
                  <a:tcPr marL="73152" marR="54864">
                    <a:solidFill>
                      <a:srgbClr val="162D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Condition</a:t>
                      </a:r>
                    </a:p>
                  </a:txBody>
                  <a:tcPr marL="73152" marR="54864">
                    <a:solidFill>
                      <a:srgbClr val="162D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Category</a:t>
                      </a:r>
                    </a:p>
                  </a:txBody>
                  <a:tcPr marL="73152" marR="54864">
                    <a:solidFill>
                      <a:srgbClr val="162D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Subcategory</a:t>
                      </a:r>
                    </a:p>
                  </a:txBody>
                  <a:tcPr marL="73152" marR="54864">
                    <a:solidFill>
                      <a:srgbClr val="162D52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IF</a:t>
                      </a:r>
                    </a:p>
                  </a:txBody>
                  <a:tcPr marL="73152" marR="54864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Short Description contains Wi-Fi / Network</a:t>
                      </a:r>
                    </a:p>
                  </a:txBody>
                  <a:tcPr marL="73152" marR="54864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Network</a:t>
                      </a:r>
                    </a:p>
                  </a:txBody>
                  <a:tcPr marL="73152" marR="54864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Wi-Fi</a:t>
                      </a:r>
                    </a:p>
                  </a:txBody>
                  <a:tcPr marL="73152" marR="54864">
                    <a:solidFill>
                      <a:srgbClr val="EFF5FC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ELSE IF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Short Description contains Projector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Hardware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Projector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ELSE IF</a:t>
                      </a:r>
                    </a:p>
                  </a:txBody>
                  <a:tcPr marL="73152" marR="54864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Short Description contains Forgot password</a:t>
                      </a:r>
                    </a:p>
                  </a:txBody>
                  <a:tcPr marL="73152" marR="54864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Access</a:t>
                      </a:r>
                    </a:p>
                  </a:txBody>
                  <a:tcPr marL="73152" marR="54864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Forgot Password</a:t>
                      </a:r>
                    </a:p>
                  </a:txBody>
                  <a:tcPr marL="73152" marR="54864">
                    <a:solidFill>
                      <a:srgbClr val="EFF5FC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ELSE IF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Short Description contains Slow Computer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Performance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Slow Computer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9893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47080"/>
                </a:solidFill>
                <a:latin typeface="Aptos"/>
              </a:defRPr>
            </a:pPr>
            <a:r>
              <a:t>Note: The source document does not specify whether Wi-Fi and Network use AND or 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D52"/>
                </a:solidFill>
                <a:latin typeface="Aptos"/>
              </a:defRPr>
            </a:pPr>
            <a:r>
              <a:t>Flow Designer Actions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143000" cy="54864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7080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12080" cy="182880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490472"/>
            <a:ext cx="48828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B65B8"/>
                </a:solidFill>
                <a:latin typeface="Aptos"/>
              </a:defRPr>
            </a:pPr>
            <a:r>
              <a:t>Update 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84248"/>
            <a:ext cx="488289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03E"/>
                </a:solidFill>
                <a:latin typeface="Aptos"/>
              </a:defRPr>
            </a:pPr>
            <a:r>
              <a:t>Branch-specific action updates Category and Subcategory on the trigger record.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212080" cy="182880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1" y="1490472"/>
            <a:ext cx="48828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89691"/>
                </a:solidFill>
                <a:latin typeface="Aptos"/>
              </a:defRPr>
            </a:pPr>
            <a:r>
              <a:t>Send 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1" y="1984248"/>
            <a:ext cx="488289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03E"/>
                </a:solidFill>
                <a:latin typeface="Aptos"/>
              </a:defRPr>
            </a:pPr>
            <a:r>
              <a:t>To: Caller → Email</a:t>
            </a:r>
          </a:p>
          <a:p>
            <a:pPr>
              <a:spcAft>
                <a:spcPts val="800"/>
              </a:spcAft>
              <a:defRPr sz="1400" b="0">
                <a:solidFill>
                  <a:srgbClr val="26303E"/>
                </a:solidFill>
                <a:latin typeface="Aptos"/>
              </a:defRPr>
            </a:pPr>
            <a:r>
              <a:t>Subject: Your Request for the issue has been submitted.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62D52"/>
                </a:solidFill>
                <a:latin typeface="Aptos"/>
              </a:defRPr>
            </a:pPr>
            <a:r>
              <a:t>Classification field mappings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9875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1500"/>
              </a:spcAft>
              <a:defRPr sz="1700">
                <a:solidFill>
                  <a:srgbClr val="26303E"/>
                </a:solidFill>
                <a:latin typeface="Aptos"/>
              </a:defRPr>
            </a:pPr>
            <a:r>
              <a:t>Network → Wi-Fi</a:t>
            </a:r>
          </a:p>
          <a:p>
            <a:pPr>
              <a:buChar char="•"/>
              <a:spcAft>
                <a:spcPts val="1500"/>
              </a:spcAft>
              <a:defRPr sz="1700">
                <a:solidFill>
                  <a:srgbClr val="26303E"/>
                </a:solidFill>
                <a:latin typeface="Aptos"/>
              </a:defRPr>
            </a:pPr>
            <a:r>
              <a:t>Hardware → Projector</a:t>
            </a:r>
          </a:p>
          <a:p>
            <a:pPr>
              <a:buChar char="•"/>
              <a:spcAft>
                <a:spcPts val="1500"/>
              </a:spcAft>
              <a:defRPr sz="1700">
                <a:solidFill>
                  <a:srgbClr val="26303E"/>
                </a:solidFill>
                <a:latin typeface="Aptos"/>
              </a:defRPr>
            </a:pPr>
            <a:r>
              <a:t>Access → Forgot Password</a:t>
            </a:r>
          </a:p>
          <a:p>
            <a:pPr>
              <a:buChar char="•"/>
              <a:spcAft>
                <a:spcPts val="1500"/>
              </a:spcAft>
              <a:defRPr sz="1700">
                <a:solidFill>
                  <a:srgbClr val="26303E"/>
                </a:solidFill>
                <a:latin typeface="Aptos"/>
              </a:defRPr>
            </a:pPr>
            <a:r>
              <a:t>Performance → Slow Computer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D52"/>
                </a:solidFill>
                <a:latin typeface="Aptos"/>
              </a:defRPr>
            </a:pPr>
            <a:r>
              <a:t>Category–Subcategory Dependency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143000" cy="54864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7080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26303E"/>
                </a:solidFill>
                <a:latin typeface="Aptos"/>
              </a:defRPr>
            </a:pPr>
            <a:r>
              <a:t>The Subcategory choice field depends on the selected Category.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2057400"/>
            <a:ext cx="3840480" cy="59436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2221992"/>
            <a:ext cx="35112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B65B8"/>
                </a:solidFill>
                <a:latin typeface="Aptos"/>
              </a:defRPr>
            </a:pPr>
            <a:r>
              <a:t>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2715768"/>
            <a:ext cx="3511296" cy="-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03E"/>
                </a:solidFill>
                <a:latin typeface="Aptos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5303520" y="21305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1896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057400"/>
            <a:ext cx="4754880" cy="59436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9631" y="2221992"/>
            <a:ext cx="44256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89691"/>
                </a:solidFill>
                <a:latin typeface="Aptos"/>
              </a:defRPr>
            </a:pPr>
            <a:r>
              <a:t>Wi-Fi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1" y="2715768"/>
            <a:ext cx="4425696" cy="-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03E"/>
                </a:solidFill>
                <a:latin typeface="Aptos"/>
              </a:defRPr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1188720" y="2880360"/>
            <a:ext cx="3840480" cy="59436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53312" y="3044952"/>
            <a:ext cx="35112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B65B8"/>
                </a:solidFill>
                <a:latin typeface="Aptos"/>
              </a:defRPr>
            </a:pPr>
            <a:r>
              <a:t>Hardware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538728"/>
            <a:ext cx="3511296" cy="-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03E"/>
                </a:solidFill>
                <a:latin typeface="Aptos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303520" y="295351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1896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880360"/>
            <a:ext cx="4754880" cy="59436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9631" y="3044952"/>
            <a:ext cx="44256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89691"/>
                </a:solidFill>
                <a:latin typeface="Aptos"/>
              </a:defRPr>
            </a:pPr>
            <a:r>
              <a:t>Projector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1" y="3538728"/>
            <a:ext cx="4425696" cy="-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03E"/>
                </a:solidFill>
                <a:latin typeface="Aptos"/>
              </a:defRPr>
            </a:pPr>
          </a:p>
        </p:txBody>
      </p:sp>
      <p:sp>
        <p:nvSpPr>
          <p:cNvPr id="20" name="Rounded Rectangle 19"/>
          <p:cNvSpPr/>
          <p:nvPr/>
        </p:nvSpPr>
        <p:spPr>
          <a:xfrm>
            <a:off x="1188720" y="3703320"/>
            <a:ext cx="3840480" cy="59436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53312" y="3867911"/>
            <a:ext cx="35112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B65B8"/>
                </a:solidFill>
                <a:latin typeface="Aptos"/>
              </a:defRPr>
            </a:pPr>
            <a:r>
              <a:t>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4361688"/>
            <a:ext cx="3511296" cy="-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03E"/>
                </a:solidFill>
                <a:latin typeface="Aptos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5303520" y="37764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1896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3703320"/>
            <a:ext cx="4754880" cy="59436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99631" y="3867911"/>
            <a:ext cx="44256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89691"/>
                </a:solidFill>
                <a:latin typeface="Aptos"/>
              </a:defRPr>
            </a:pPr>
            <a:r>
              <a:t>Forgot Password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9631" y="4361688"/>
            <a:ext cx="4425696" cy="-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03E"/>
                </a:solidFill>
                <a:latin typeface="Aptos"/>
              </a:defRPr>
            </a:pPr>
          </a:p>
        </p:txBody>
      </p:sp>
      <p:sp>
        <p:nvSpPr>
          <p:cNvPr id="27" name="Rounded Rectangle 26"/>
          <p:cNvSpPr/>
          <p:nvPr/>
        </p:nvSpPr>
        <p:spPr>
          <a:xfrm>
            <a:off x="1188720" y="4526280"/>
            <a:ext cx="3840480" cy="59436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53312" y="4690872"/>
            <a:ext cx="35112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B65B8"/>
                </a:solidFill>
                <a:latin typeface="Aptos"/>
              </a:defRPr>
            </a:pPr>
            <a:r>
              <a:t>Performance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53312" y="5184648"/>
            <a:ext cx="3511296" cy="-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03E"/>
                </a:solidFill>
                <a:latin typeface="Aptos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5303520" y="45994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1896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4526280"/>
            <a:ext cx="4754880" cy="59436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9631" y="4690872"/>
            <a:ext cx="44256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89691"/>
                </a:solidFill>
                <a:latin typeface="Aptos"/>
              </a:defRPr>
            </a:pPr>
            <a:r>
              <a:t>Slow Computer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9631" y="5184648"/>
            <a:ext cx="4425696" cy="-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03E"/>
                </a:solidFill>
                <a:latin typeface="Aptos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D52"/>
                </a:solidFill>
                <a:latin typeface="Aptos"/>
              </a:defRPr>
            </a:pPr>
            <a:r>
              <a:t>Implementation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143000" cy="54864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70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1500"/>
              </a:spcAft>
              <a:defRPr sz="1900">
                <a:solidFill>
                  <a:srgbClr val="26303E"/>
                </a:solidFill>
                <a:latin typeface="Aptos"/>
              </a:defRPr>
            </a:pPr>
            <a:r>
              <a:t>Create and activate the project Update Set.</a:t>
            </a:r>
          </a:p>
          <a:p>
            <a:pPr>
              <a:buChar char="•"/>
              <a:spcAft>
                <a:spcPts val="1500"/>
              </a:spcAft>
              <a:defRPr sz="1900">
                <a:solidFill>
                  <a:srgbClr val="26303E"/>
                </a:solidFill>
                <a:latin typeface="Aptos"/>
              </a:defRPr>
            </a:pPr>
            <a:r>
              <a:t>Create the Incident Workflow table and enable Auto Number.</a:t>
            </a:r>
          </a:p>
          <a:p>
            <a:pPr>
              <a:buChar char="•"/>
              <a:spcAft>
                <a:spcPts val="1500"/>
              </a:spcAft>
              <a:defRPr sz="1900">
                <a:solidFill>
                  <a:srgbClr val="26303E"/>
                </a:solidFill>
                <a:latin typeface="Aptos"/>
              </a:defRPr>
            </a:pPr>
            <a:r>
              <a:t>Add fields, choice values, and dependent subcategory choices.</a:t>
            </a:r>
          </a:p>
          <a:p>
            <a:pPr>
              <a:buChar char="•"/>
              <a:spcAft>
                <a:spcPts val="1500"/>
              </a:spcAft>
              <a:defRPr sz="1900">
                <a:solidFill>
                  <a:srgbClr val="26303E"/>
                </a:solidFill>
                <a:latin typeface="Aptos"/>
              </a:defRPr>
            </a:pPr>
            <a:r>
              <a:t>Create the “Auto Classify School IT Tickets” flow.</a:t>
            </a:r>
          </a:p>
          <a:p>
            <a:pPr>
              <a:buChar char="•"/>
              <a:spcAft>
                <a:spcPts val="1500"/>
              </a:spcAft>
              <a:defRPr sz="1900">
                <a:solidFill>
                  <a:srgbClr val="26303E"/>
                </a:solidFill>
                <a:latin typeface="Aptos"/>
              </a:defRPr>
            </a:pPr>
            <a:r>
              <a:t>Configure trigger, If / Else If conditions, and Update Record actions.</a:t>
            </a:r>
          </a:p>
          <a:p>
            <a:pPr>
              <a:buChar char="•"/>
              <a:spcAft>
                <a:spcPts val="1500"/>
              </a:spcAft>
              <a:defRPr sz="1900">
                <a:solidFill>
                  <a:srgbClr val="26303E"/>
                </a:solidFill>
                <a:latin typeface="Aptos"/>
              </a:defRPr>
            </a:pPr>
            <a:r>
              <a:t>Configure Send Email, activate the flow, and test sample tickets.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D52"/>
                </a:solidFill>
                <a:latin typeface="Aptos"/>
              </a:defRPr>
            </a:pPr>
            <a:r>
              <a:t>Testing and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143000" cy="54864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7080"/>
                </a:solidFill>
                <a:latin typeface="Aptos"/>
              </a:defRPr>
            </a:pPr>
            <a:r>
              <a:t>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417320"/>
          <a:ext cx="109728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3657600"/>
                <a:gridCol w="3200400"/>
              </a:tblGrid>
              <a:tr h="859536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Sample Short Description</a:t>
                      </a:r>
                    </a:p>
                  </a:txBody>
                  <a:tcPr>
                    <a:solidFill>
                      <a:srgbClr val="162D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Expected Classification</a:t>
                      </a:r>
                    </a:p>
                  </a:txBody>
                  <a:tcPr>
                    <a:solidFill>
                      <a:srgbClr val="162D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Expected Email</a:t>
                      </a:r>
                    </a:p>
                  </a:txBody>
                  <a:tcPr>
                    <a:solidFill>
                      <a:srgbClr val="162D52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WiFi not working in library</a:t>
                      </a:r>
                    </a:p>
                  </a:txBody>
                  <a:tcPr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Network / Wi-Fi</a:t>
                      </a:r>
                    </a:p>
                  </a:txBody>
                  <a:tcPr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Email to caller</a:t>
                      </a:r>
                    </a:p>
                  </a:txBody>
                  <a:tcPr>
                    <a:solidFill>
                      <a:srgbClr val="EFF5FC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Projector not turning 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Hardware / Projector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Email to caller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Forgot password</a:t>
                      </a:r>
                    </a:p>
                  </a:txBody>
                  <a:tcPr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Access / Forgot Password</a:t>
                      </a:r>
                    </a:p>
                  </a:txBody>
                  <a:tcPr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Email to caller</a:t>
                      </a:r>
                    </a:p>
                  </a:txBody>
                  <a:tcPr>
                    <a:solidFill>
                      <a:srgbClr val="EFF5FC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Slow Computer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Performance / Slow Computer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Email to caller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9436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47080"/>
                </a:solidFill>
                <a:latin typeface="Aptos"/>
              </a:defRPr>
            </a:pPr>
            <a:r>
              <a:t>These are expected outcomes documented for validation, not independently verified test results.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D52"/>
                </a:solidFill>
                <a:latin typeface="Aptos"/>
              </a:defRPr>
            </a:pPr>
            <a:r>
              <a:t>Limitations and 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143000" cy="54864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708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29768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36192"/>
            <a:ext cx="48828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B65B8"/>
                </a:solidFill>
                <a:latin typeface="Aptos"/>
              </a:defRPr>
            </a:pPr>
            <a:r>
              <a:t>Current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29967"/>
            <a:ext cx="4882896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03E"/>
                </a:solidFill>
                <a:latin typeface="Aptos"/>
              </a:defRPr>
            </a:pPr>
            <a:r>
              <a:t>• Keyword-based matching only</a:t>
            </a:r>
          </a:p>
          <a:p>
            <a:pPr>
              <a:spcAft>
                <a:spcPts val="800"/>
              </a:spcAft>
              <a:defRPr sz="1400" b="0">
                <a:solidFill>
                  <a:srgbClr val="26303E"/>
                </a:solidFill>
                <a:latin typeface="Aptos"/>
              </a:defRPr>
            </a:pPr>
            <a:r>
              <a:t>• Unmatched descriptions need a fallback</a:t>
            </a:r>
          </a:p>
          <a:p>
            <a:pPr>
              <a:spcAft>
                <a:spcPts val="800"/>
              </a:spcAft>
              <a:defRPr sz="1400" b="0">
                <a:solidFill>
                  <a:srgbClr val="26303E"/>
                </a:solidFill>
                <a:latin typeface="Aptos"/>
              </a:defRPr>
            </a:pPr>
            <a:r>
              <a:t>• Detailed flow focuses on Short Description</a:t>
            </a:r>
          </a:p>
          <a:p>
            <a:pPr>
              <a:spcAft>
                <a:spcPts val="800"/>
              </a:spcAft>
              <a:defRPr sz="1400" b="0">
                <a:solidFill>
                  <a:srgbClr val="26303E"/>
                </a:solidFill>
                <a:latin typeface="Aptos"/>
              </a:defRPr>
            </a:pPr>
            <a:r>
              <a:t>• No quantitative performance results supplied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71600"/>
            <a:ext cx="5212080" cy="429768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1" y="1536192"/>
            <a:ext cx="48828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89691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1" y="2029967"/>
            <a:ext cx="4882896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03E"/>
                </a:solidFill>
                <a:latin typeface="Aptos"/>
              </a:defRPr>
            </a:pPr>
            <a:r>
              <a:t>• Add synonyms and fallback/manual review</a:t>
            </a:r>
          </a:p>
          <a:p>
            <a:pPr>
              <a:spcAft>
                <a:spcPts val="800"/>
              </a:spcAft>
              <a:defRPr sz="1400" b="0">
                <a:solidFill>
                  <a:srgbClr val="26303E"/>
                </a:solidFill>
                <a:latin typeface="Aptos"/>
              </a:defRPr>
            </a:pPr>
            <a:r>
              <a:t>• Check Description as well as Short Description</a:t>
            </a:r>
          </a:p>
          <a:p>
            <a:pPr>
              <a:spcAft>
                <a:spcPts val="800"/>
              </a:spcAft>
              <a:defRPr sz="1400" b="0">
                <a:solidFill>
                  <a:srgbClr val="26303E"/>
                </a:solidFill>
                <a:latin typeface="Aptos"/>
              </a:defRPr>
            </a:pPr>
            <a:r>
              <a:t>• Automate assignment groups</a:t>
            </a:r>
          </a:p>
          <a:p>
            <a:pPr>
              <a:spcAft>
                <a:spcPts val="800"/>
              </a:spcAft>
              <a:defRPr sz="1400" b="0">
                <a:solidFill>
                  <a:srgbClr val="26303E"/>
                </a:solidFill>
                <a:latin typeface="Aptos"/>
              </a:defRPr>
            </a:pPr>
            <a:r>
              <a:t>• Add SLA tracking and escalation</a:t>
            </a:r>
          </a:p>
          <a:p>
            <a:pPr>
              <a:spcAft>
                <a:spcPts val="800"/>
              </a:spcAft>
              <a:defRPr sz="1400" b="0">
                <a:solidFill>
                  <a:srgbClr val="26303E"/>
                </a:solidFill>
                <a:latin typeface="Aptos"/>
              </a:defRPr>
            </a:pPr>
            <a:r>
              <a:t>• Expand test coverage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7FDCD5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9875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A visual workflow for</a:t>
            </a:r>
          </a:p>
          <a:p>
            <a:pPr>
              <a:spcAft>
                <a:spcPts val="8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consistent ticket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46120"/>
            <a:ext cx="9784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DCE7F5"/>
                </a:solidFill>
                <a:latin typeface="Aptos"/>
              </a:defRPr>
            </a:pPr>
            <a:r>
              <a:t>The project combines keyword conditions, record updates, dependent choice fields, and email acknowledgement to streamline school IT helpdesk processing.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3035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